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맑은 고딕"/>
                <a:ea typeface="맑은 고딕"/>
              </a:rPr>
              <a:t>2026-1 Web Programming ·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FFFFFF"/>
                </a:solidFill>
                <a:latin typeface="맑은 고딕"/>
                <a:ea typeface="맑은 고딕"/>
              </a:rPr>
              <a:t>PlanIt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59E0B"/>
                </a:solidFill>
                <a:latin typeface="맑은 고딕"/>
                <a:ea typeface="맑은 고딕"/>
              </a:rPr>
              <a:t>할 일 + 일정 통합 관리 웹 서비스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맑은 고딕"/>
                <a:ea typeface="맑은 고딕"/>
              </a:rPr>
              <a:t>대학생을 위한 단일 인터페이스 · React + Express + PostgreSQL · Docker · Nginx · CI/CD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컴퓨터공학부 · 202100580 · 이정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  <a:ea typeface="맑은 고딕"/>
              </a:rPr>
              <a:t>왜 만들었는가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대학생의 두 가지 일정 패턴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82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2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48640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11D48"/>
                </a:solidFill>
                <a:latin typeface="맑은 고딕"/>
                <a:ea typeface="맑은 고딕"/>
              </a:rPr>
              <a:t>❗ 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맑은 고딕"/>
                <a:ea typeface="맑은 고딕"/>
              </a:rPr>
              <a:t>대학생은 매일 두 종류의 일정을 다룬다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5120640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D4ED8"/>
                </a:solidFill>
                <a:latin typeface="맑은 고딕"/>
                <a:ea typeface="맑은 고딕"/>
              </a:rPr>
              <a:t>Event  </a:t>
            </a:r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강의 · 미팅 · 시험 → 시각이 고정된 일정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D4ED8"/>
                </a:solidFill>
                <a:latin typeface="맑은 고딕"/>
                <a:ea typeface="맑은 고딕"/>
              </a:rPr>
              <a:t>Task  </a:t>
            </a:r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과제 · 보고서 · 학습 → 마감일이 있는 작업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D4ED8"/>
                </a:solidFill>
                <a:latin typeface="맑은 고딕"/>
                <a:ea typeface="맑은 고딕"/>
              </a:rPr>
              <a:t>현실  </a:t>
            </a:r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캘린더 앱과 투두 앱이 분리 → 두 앱을 오가야 함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D4ED8"/>
                </a:solidFill>
                <a:latin typeface="맑은 고딕"/>
                <a:ea typeface="맑은 고딕"/>
              </a:rPr>
              <a:t>결과  </a:t>
            </a:r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맥락 전환 비용, 누락 위험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88720"/>
            <a:ext cx="5486400" cy="47548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3258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맑은 고딕"/>
                <a:ea typeface="맑은 고딕"/>
              </a:rPr>
              <a:t>✔ 해결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7373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맑은 고딕"/>
                <a:ea typeface="맑은 고딕"/>
              </a:rPr>
              <a:t>둘을 한 화면에 모은다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606040"/>
            <a:ext cx="5120640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•  Task 와 Event 를 동일한 데이터 모델로 추상화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•  대시보드 = 오늘 마감 할 일 + 오늘 일정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•  통합 캘린더 = 월/주/일/아젠다 한 화면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•  대학생 → 일반 사용자로 확장 가능한 단순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PlanIt — 2026-1 Web Programming Final Project · 202100580 이정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  <a:ea typeface="맑은 고딕"/>
              </a:rPr>
              <a:t>서비스 한눈에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핵심 기능 6가지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82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3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370332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D4ED8"/>
                </a:solidFill>
                <a:latin typeface="맑은 고딕"/>
                <a:ea typeface="맑은 고딕"/>
              </a:rPr>
              <a:t>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맑은 고딕"/>
                <a:ea typeface="맑은 고딕"/>
              </a:rPr>
              <a:t>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맑은 고딕"/>
                <a:ea typeface="맑은 고딕"/>
              </a:rPr>
              <a:t>이메일/비밀번호 + bcrypt + JWT 7일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097280"/>
            <a:ext cx="370332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2344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D4ED8"/>
                </a:solidFill>
                <a:latin typeface="맑은 고딕"/>
                <a:ea typeface="맑은 고딕"/>
              </a:rP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1168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맑은 고딕"/>
                <a:ea typeface="맑은 고딕"/>
              </a:rPr>
              <a:t>할 일 (Task)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맑은 고딕"/>
                <a:ea typeface="맑은 고딕"/>
              </a:rPr>
              <a:t>제목 · 마감일 · 우선순위 · 완료 · 검색/필터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097280"/>
            <a:ext cx="370332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2344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D4ED8"/>
                </a:solidFill>
                <a:latin typeface="맑은 고딕"/>
                <a:ea typeface="맑은 고딕"/>
              </a:rPr>
              <a:t>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01168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맑은 고딕"/>
                <a:ea typeface="맑은 고딕"/>
              </a:rPr>
              <a:t>일정 (Event)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맑은 고딕"/>
                <a:ea typeface="맑은 고딕"/>
              </a:rPr>
              <a:t>제목 · 장소 · 시작/종료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429000"/>
            <a:ext cx="370332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D4ED8"/>
                </a:solidFill>
                <a:latin typeface="맑은 고딕"/>
                <a:ea typeface="맑은 고딕"/>
              </a:rPr>
              <a:t>🗓️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434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맑은 고딕"/>
                <a:ea typeface="맑은 고딕"/>
              </a:rPr>
              <a:t>통합 캘린더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0060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맑은 고딕"/>
                <a:ea typeface="맑은 고딕"/>
              </a:rPr>
              <a:t>월/주/일/아젠다 + 한국어 + Task/Event 색 분리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3429000"/>
            <a:ext cx="370332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566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D4ED8"/>
                </a:solidFill>
                <a:latin typeface="맑은 고딕"/>
                <a:ea typeface="맑은 고딕"/>
              </a:rPr>
              <a:t>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3434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맑은 고딕"/>
                <a:ea typeface="맑은 고딕"/>
              </a:rPr>
              <a:t>대시보드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80060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맑은 고딕"/>
                <a:ea typeface="맑은 고딕"/>
              </a:rPr>
              <a:t>오늘 마감 할 일 + 오늘 일정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429000"/>
            <a:ext cx="370332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3566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D4ED8"/>
                </a:solidFill>
                <a:latin typeface="맑은 고딕"/>
                <a:ea typeface="맑은 고딕"/>
              </a:rPr>
              <a:t>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3434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맑은 고딕"/>
                <a:ea typeface="맑은 고딕"/>
              </a:rPr>
              <a:t>마감 알림 · 다크 모드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80060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맑은 고딕"/>
                <a:ea typeface="맑은 고딕"/>
              </a:rPr>
              <a:t>Notification API + localStorage 영구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PlanIt — 2026-1 Web Programming Final Project · 202100580 이정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  <a:ea typeface="맑은 고딕"/>
              </a:rPr>
              <a:t>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Browser → Vercel → Render(Docker) → Neon Postgres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82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4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8027" y="2377440"/>
            <a:ext cx="24688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187" y="25603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맑은 고딕"/>
                <a:ea typeface="맑은 고딕"/>
              </a:rPr>
              <a:t>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187" y="338328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맑은 고딕"/>
                <a:ea typeface="맑은 고딕"/>
              </a:rPr>
              <a:t>React SPA
localStorage / sessionStorage / IndexedDB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6947" y="2377440"/>
            <a:ext cx="24688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4107" y="25603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Vercel CDN
(Nginx-style)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4107" y="338328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맑은 고딕"/>
                <a:ea typeface="맑은 고딕"/>
              </a:rPr>
              <a:t>정적 자원 + SPA fallback
immutable cache + gzip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2377440"/>
            <a:ext cx="24688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5603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맑은 고딕"/>
                <a:ea typeface="맑은 고딕"/>
              </a:rPr>
              <a:t>Render Web Service
(Docker)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338328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맑은 고딕"/>
                <a:ea typeface="맑은 고딕"/>
              </a:rPr>
              <a:t>Express + Prisma
JWT · bcrypt · zod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4787" y="2377440"/>
            <a:ext cx="24688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1947" y="25603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11D48"/>
                </a:solidFill>
                <a:latin typeface="맑은 고딕"/>
                <a:ea typeface="맑은 고딕"/>
              </a:rPr>
              <a:t>Neon Postgres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1947" y="338328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맑은 고딕"/>
                <a:ea typeface="맑은 고딕"/>
              </a:rPr>
              <a:t>User · Task · Event
1:N 관계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46907" y="3291840"/>
            <a:ext cx="320040" cy="0"/>
          </a:xfrm>
          <a:prstGeom prst="line">
            <a:avLst/>
          </a:prstGeom>
          <a:ln w="2540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35827" y="3291840"/>
            <a:ext cx="320040" cy="0"/>
          </a:xfrm>
          <a:prstGeom prst="line">
            <a:avLst/>
          </a:prstGeom>
          <a:ln w="2540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724747" y="3291840"/>
            <a:ext cx="320040" cy="0"/>
          </a:xfrm>
          <a:prstGeom prst="line">
            <a:avLst/>
          </a:prstGeom>
          <a:ln w="2540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47548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요청 흐름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①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사용자는 Vercel 도메인으로 접속 → React 정적 자원이 즉시 응답 (Nginx 식 gzip + immutable cache)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②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/api/* 요청은 axios 가 Render 백엔드로 직접 (build 시 VITE_API_BASE_URL inline)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③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Express 는 JWT 검증 → Prisma → Neon Postgres SQL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④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응답 데이터는 IndexedDB 에 캐시 → 오프라인/네트워크 장애 시 폴백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PlanIt — 2026-1 Web Programming Final Project · 202100580 이정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  <a:ea typeface="맑은 고딕"/>
              </a:rPr>
              <a:t>기술 스택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수업에서 다룬 요소 + 표준 브라우저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82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5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1106424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61872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61872"/>
            <a:ext cx="8229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React · Vite · Tailwind · react-router-dom · react-big-calendar · axios · date-fns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1106424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75104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75104"/>
            <a:ext cx="8229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Node 20 · Express · Prisma · JWT · bcrypt · zod · cors · morgan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1106424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88336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88336"/>
            <a:ext cx="8229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PostgreSQL 16 (Neon) · Prisma Migrate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36976"/>
            <a:ext cx="1106424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01568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Container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401568"/>
            <a:ext cx="8229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Docker (multi-stage) · docker compose (db/api/web 3 컨테이너)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50208"/>
            <a:ext cx="1106424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114800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Reverse Proxy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14800"/>
            <a:ext cx="8229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Nginx (gzip · immutable cache · SPA fallback · /api 리버스 프록시)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663440"/>
            <a:ext cx="1106424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828032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Web 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828032"/>
            <a:ext cx="8229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localStorage · sessionStorage · IndexedDB · Notification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376672"/>
            <a:ext cx="1106424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41264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CI/CD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541264"/>
            <a:ext cx="8229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맑은 고딕"/>
                <a:ea typeface="맑은 고딕"/>
              </a:rPr>
              <a:t>GitHub Actions (ci.yml + deploy.yml) · Vercel · Render autoDeploy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PlanIt — 2026-1 Web Programming Final Project · 202100580 이정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  <a:ea typeface="맑은 고딕"/>
              </a:rPr>
              <a:t>DBMS 활용 — PostgreSQL + Prisma + Neon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조건 ③ — 영속 데이터의 1:N 관계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82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6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6583680" cy="493776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344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📐 도메인 모델 (Prisma schema)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0F172A"/>
                </a:solidFill>
                <a:latin typeface="Consolas"/>
                <a:ea typeface="Consolas"/>
              </a:rPr>
              <a:t>model User  { id  email(unique)  password  name?  ... }</a:t>
            </a:r>
          </a:p>
          <a:p>
            <a:r>
              <a:rPr sz="1200" b="0" i="0">
                <a:solidFill>
                  <a:srgbClr val="0F172A"/>
                </a:solidFill>
                <a:latin typeface="Consolas"/>
                <a:ea typeface="Consolas"/>
              </a:rPr>
              <a:t>model Task  { id  userId  title  description?  dueAt?</a:t>
            </a:r>
          </a:p>
          <a:p>
            <a:r>
              <a:rPr sz="1200" b="0" i="0">
                <a:solidFill>
                  <a:srgbClr val="0F172A"/>
                </a:solidFill>
                <a:latin typeface="Consolas"/>
                <a:ea typeface="Consolas"/>
              </a:rPr>
              <a:t>              priority(LOW|MEDIUM|HIGH)  completed  ... }</a:t>
            </a:r>
          </a:p>
          <a:p>
            <a:r>
              <a:rPr sz="1200" b="0" i="0">
                <a:solidFill>
                  <a:srgbClr val="0F172A"/>
                </a:solidFill>
                <a:latin typeface="Consolas"/>
                <a:ea typeface="Consolas"/>
              </a:rPr>
              <a:t>model Event { id  userId  title  location?  startAt  endAt  ... }</a:t>
            </a:r>
          </a:p>
          <a:p>
            <a:r>
              <a:rPr sz="1200" b="0" i="0">
                <a:solidFill>
                  <a:srgbClr val="0F172A"/>
                </a:solidFill>
                <a:latin typeface="Consolas"/>
                <a:ea typeface="Consolas"/>
              </a:rPr>
              <a:t/>
            </a:r>
          </a:p>
          <a:p>
            <a:r>
              <a:rPr sz="1200" b="0" i="0">
                <a:solidFill>
                  <a:srgbClr val="0F172A"/>
                </a:solidFill>
                <a:latin typeface="Consolas"/>
                <a:ea typeface="Consolas"/>
              </a:rPr>
              <a:t>User 1 ──&lt; Task   (마감일이 있는 작업)</a:t>
            </a:r>
          </a:p>
          <a:p>
            <a:r>
              <a:rPr sz="1200" b="0" i="0">
                <a:solidFill>
                  <a:srgbClr val="0F172A"/>
                </a:solidFill>
                <a:latin typeface="Consolas"/>
                <a:ea typeface="Consolas"/>
              </a:rPr>
              <a:t>User 1 ──&lt; Event  (시각이 고정된 일정)</a:t>
            </a:r>
          </a:p>
          <a:p>
            <a:r>
              <a:rPr sz="1200" b="0" i="0">
                <a:solidFill>
                  <a:srgbClr val="0F172A"/>
                </a:solidFill>
                <a:latin typeface="Consolas"/>
                <a:ea typeface="Consolas"/>
              </a:rPr>
              <a:t/>
            </a:r>
          </a:p>
          <a:p>
            <a:r>
              <a:rPr sz="1200" b="0" i="0">
                <a:solidFill>
                  <a:srgbClr val="0F172A"/>
                </a:solidFill>
                <a:latin typeface="Consolas"/>
                <a:ea typeface="Consolas"/>
              </a:rPr>
              <a:t>@@index([userId, dueAt])           ─ 대시보드 쿼리 가속</a:t>
            </a:r>
          </a:p>
          <a:p>
            <a:r>
              <a:rPr sz="1200" b="0" i="0">
                <a:solidFill>
                  <a:srgbClr val="0F172A"/>
                </a:solidFill>
                <a:latin typeface="Consolas"/>
                <a:ea typeface="Consolas"/>
              </a:rPr>
              <a:t>@@index([userId, startAt])         ─ 캘린더 범위 쿼리</a:t>
            </a:r>
          </a:p>
          <a:p>
            <a:r>
              <a:rPr sz="1200" b="0" i="0">
                <a:solidFill>
                  <a:srgbClr val="0F172A"/>
                </a:solidFill>
                <a:latin typeface="Consolas"/>
                <a:ea typeface="Consolas"/>
              </a:rPr>
              <a:t>onDelete: Cascade                  ─ 계정 삭제 시 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097280"/>
            <a:ext cx="42976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2344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🚀 운영 포인트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691640"/>
            <a:ext cx="402336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Prisma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스키마 우선 · 타입 안전 · migrate deploy 로 운영 일치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Neon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Serverless Postgres · 무료 플랜 · Connection Pooling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SSL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sslmode=require + channel_binding=require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Index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사용자 + 마감/시작 시각 복합 인덱스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ORM 가드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zod 유효성 + Prisma 타입 = SQL 인젝션 차단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Migration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prisma/migrations/20260607070117_init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PlanIt — 2026-1 Web Programming Final Project · 202100580 이정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  <a:ea typeface="맑은 고딕"/>
              </a:rPr>
              <a:t>Web Storage 활용 — 4계층 저장소 분담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조건 ③ — 데이터 수명 · 범위에 맞춘 분리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82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7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858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저장소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8580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성격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685800"/>
            <a:ext cx="5989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실제 활용 위치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1106424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143000"/>
            <a:ext cx="91440" cy="9601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25880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325880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영속 · 다기기 일관성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1325880"/>
            <a:ext cx="59893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User · Task · Event 본체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103120"/>
            <a:ext cx="1106424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03120"/>
            <a:ext cx="9144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286000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맑은 고딕"/>
                <a:ea typeface="맑은 고딕"/>
              </a:rPr>
              <a:t>localStorage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286000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영구 · 같은 브라우저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2286000"/>
            <a:ext cx="59893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JWT (planit.token) · 테마 (planit.theme) · 알림 발송 기록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63240"/>
            <a:ext cx="1106424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063240"/>
            <a:ext cx="9144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246120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맑은 고딕"/>
                <a:ea typeface="맑은 고딕"/>
              </a:rPr>
              <a:t>sessionStorage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246120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탭 수명 · 새로고침 보존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246120"/>
            <a:ext cx="59893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할 일 검색어/우선순위 · 캘린더 마지막 본 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023360"/>
            <a:ext cx="1106424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023360"/>
            <a:ext cx="91440" cy="9601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206240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11D48"/>
                </a:solidFill>
                <a:latin typeface="맑은 고딕"/>
                <a:ea typeface="맑은 고딕"/>
              </a:rPr>
              <a:t>IndexedDB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206240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비동기 객체 저장 · 오프라인 캐시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4206240"/>
            <a:ext cx="59893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tasks/events 캐시 → 네트워크 실패 시 폴백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212080"/>
            <a:ext cx="11064240" cy="1143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30352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F1F5F9"/>
                </a:solidFill>
                <a:latin typeface="Consolas"/>
                <a:ea typeface="Consolas"/>
              </a:rPr>
              <a:t>client/src/api/client.js  ─  JWT 자동 첨부</a:t>
            </a:r>
          </a:p>
          <a:p>
            <a:r>
              <a:rPr sz="1100" b="0" i="0">
                <a:solidFill>
                  <a:srgbClr val="F1F5F9"/>
                </a:solidFill>
                <a:latin typeface="Consolas"/>
                <a:ea typeface="Consolas"/>
              </a:rPr>
              <a:t>client/src/lib/idbCache.js ─  IndexedDB 캐시 read/write</a:t>
            </a:r>
          </a:p>
          <a:p>
            <a:r>
              <a:rPr sz="1100" b="0" i="0">
                <a:solidFill>
                  <a:srgbClr val="F1F5F9"/>
                </a:solidFill>
                <a:latin typeface="Consolas"/>
                <a:ea typeface="Consolas"/>
              </a:rPr>
              <a:t>client/src/pages/Tasks.jsx ─  sessionStorage 로 검색어 유지</a:t>
            </a:r>
          </a:p>
          <a:p>
            <a:r>
              <a:rPr sz="1100" b="0" i="0">
                <a:solidFill>
                  <a:srgbClr val="F1F5F9"/>
                </a:solidFill>
                <a:latin typeface="Consolas"/>
                <a:ea typeface="Consolas"/>
              </a:rPr>
              <a:t>client/src/hooks/useDueNotifier.js ─  Notification API + localStorage 중복 방지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PlanIt — 2026-1 Web Programming Final Project · 202100580 이정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  <a:ea typeface="맑은 고딕"/>
              </a:rPr>
              <a:t>Docker 컨테이너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조건 ② — 한 번의 compose up 으로 운영 환경 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82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8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6035040" cy="493776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344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🐳 docker-compose 토폴로지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783080"/>
            <a:ext cx="438912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9202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맑은 고딕"/>
                <a:ea typeface="맑은 고딕"/>
              </a:rPr>
              <a:t>web — Nginx (planit-web)
:8080 → 80 · 정적 + /api 프록시 + gzip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2971800"/>
            <a:ext cx="438912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1089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맑은 고딕"/>
                <a:ea typeface="맑은 고딕"/>
              </a:rPr>
              <a:t>api — Express + Prisma (planit-api)
:4000 · migrate deploy → node src/index.js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160520"/>
            <a:ext cx="438912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2976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맑은 고딕"/>
                <a:ea typeface="맑은 고딕"/>
              </a:rPr>
              <a:t>db — postgres:16-alpine
:5434 → 5432 · planit-db 볼륨 영속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6160" y="2514600"/>
            <a:ext cx="0" cy="457200"/>
          </a:xfrm>
          <a:prstGeom prst="line">
            <a:avLst/>
          </a:prstGeom>
          <a:ln w="2032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566160" y="3703320"/>
            <a:ext cx="0" cy="457200"/>
          </a:xfrm>
          <a:prstGeom prst="line">
            <a:avLst/>
          </a:prstGeom>
          <a:ln w="2032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50749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75569"/>
                </a:solidFill>
                <a:latin typeface="맑은 고딕"/>
                <a:ea typeface="맑은 고딕"/>
              </a:rPr>
              <a:t>depends_on healthcheck → db 가 ready 일 때만 api 시작
nginx.conf 는 volume mount → 재빌드 없이 라우팅 수정 가능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1097280"/>
            <a:ext cx="48463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1234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🔧 기술 포인트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1691640"/>
            <a:ext cx="457200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D4ED8"/>
                </a:solidFill>
                <a:latin typeface="맑은 고딕"/>
                <a:ea typeface="맑은 고딕"/>
              </a:rPr>
              <a:t>Multi-stage build  </a:t>
            </a: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deps → build (prisma generate) → runtime · 이미지 슬림화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D4ED8"/>
                </a:solidFill>
                <a:latin typeface="맑은 고딕"/>
                <a:ea typeface="맑은 고딕"/>
              </a:rPr>
              <a:t>node:20-slim  </a:t>
            </a: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Prisma + Alpine OpenSSL 이슈 회피 → 안정적 Debian 베이스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D4ED8"/>
                </a:solidFill>
                <a:latin typeface="맑은 고딕"/>
                <a:ea typeface="맑은 고딕"/>
              </a:rPr>
              <a:t>binaryTargets  </a:t>
            </a: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debian-openssl-3.0.x 명시로 production 런타임 호환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D4ED8"/>
                </a:solidFill>
                <a:latin typeface="맑은 고딕"/>
                <a:ea typeface="맑은 고딕"/>
              </a:rPr>
              <a:t>Health gate  </a:t>
            </a: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pg_isready 헬스체크 통과 후 api 부팅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D4ED8"/>
                </a:solidFill>
                <a:latin typeface="맑은 고딕"/>
                <a:ea typeface="맑은 고딕"/>
              </a:rPr>
              <a:t>Volume  </a:t>
            </a: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planit-db 명명 볼륨으로 데이터 영속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D4ED8"/>
                </a:solidFill>
                <a:latin typeface="맑은 고딕"/>
                <a:ea typeface="맑은 고딕"/>
              </a:rPr>
              <a:t>Port isolation  </a:t>
            </a: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호스트 5434 매핑 → 호스트 Postgres 충돌 회피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PlanIt — 2026-1 Web Programming Final Project · 202100580 이정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  <a:ea typeface="맑은 고딕"/>
              </a:rPr>
              <a:t>Nginx 리버스 프록시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조건 ② — 정적 자원 + API 를 같은 출처에서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82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9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6858000" cy="49377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344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맑은 고딕"/>
                <a:ea typeface="맑은 고딕"/>
              </a:rPr>
              <a:t>docker/nginx.conf 핵심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server {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listen 80;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gzip on;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gzip_types text/css application/javascript application/json image/svg+xml;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/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# API 리버스 프록시 (같은 출처 → CORS 회피)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location /api/ {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    proxy_pass http://api:4000;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    proxy_set_header X-Real-IP $remote_addr;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    proxy_set_header X-Forwarded-For $proxy_add_x_forwarded_for;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/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# 정적 자원: 1년 immutable 캐시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location /assets/ {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    add_header Cache-Control "public, max-age=31536000, immutable";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    try_files $uri =404;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/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# SPA fallback (react-router 새로고침 보장)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location / {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    try_files $uri $uri/ /index.html;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000" b="0" i="0">
                <a:solidFill>
                  <a:srgbClr val="F1F5F9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097280"/>
            <a:ext cx="4023360" cy="493776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23444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🎯 얻은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91640"/>
            <a:ext cx="3749039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같은 Origin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CORS preflight 불필요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gzip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JS 429KB → 138KB (전송량 -68%)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immutable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재방문 시 자산 0 byte 다운로드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SPA fallback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/calendar 직접 새로고침해도 200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X-Forwarded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백엔드에서 원본 IP 식별 가능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HTTPS 전담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운영 환경에서 TLS 처리 Nginx 단계 집중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PlanIt — 2026-1 Web Programming Final Project · 202100580 이정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  <a:ea typeface="맑은 고딕"/>
              </a:rPr>
              <a:t>CI/CD 자동 배포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조건 ① — git push → 자동 빌드 · 자동 배포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82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git push origin main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GitHub Actions
ci.yml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server / client / docker compose
빌드 + node --check + dist 아티팩트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73736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맑은 고딕"/>
                <a:ea typeface="맑은 고딕"/>
              </a:rPr>
              <a:t>Vercel
GitHub 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51460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client/ 자동 감지
빌드 + Edge 배포 + alias 유지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56616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3736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맑은 고딕"/>
                <a:ea typeface="맑은 고딕"/>
              </a:rPr>
              <a:t>Render
autoDeploy: 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51460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server/Dockerfile 자동 감지
빌드 + migrate deploy + 컨테이너 부팅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1325880"/>
            <a:ext cx="0" cy="228600"/>
          </a:xfrm>
          <a:prstGeom prst="line">
            <a:avLst/>
          </a:prstGeom>
          <a:ln w="1778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80760" y="1325880"/>
            <a:ext cx="0" cy="228600"/>
          </a:xfrm>
          <a:prstGeom prst="line">
            <a:avLst/>
          </a:prstGeom>
          <a:ln w="1778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29800" y="1325880"/>
            <a:ext cx="0" cy="228600"/>
          </a:xfrm>
          <a:prstGeom prst="line">
            <a:avLst/>
          </a:prstGeom>
          <a:ln w="1778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3840480"/>
            <a:ext cx="5486400" cy="237744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319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맑은 고딕"/>
                <a:ea typeface="맑은 고딕"/>
              </a:rPr>
              <a:t>📋 ci.yml 작업 (PR &amp; main push 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43400"/>
            <a:ext cx="512064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D4ED8"/>
                </a:solidFill>
                <a:latin typeface="맑은 고딕"/>
                <a:ea typeface="맑은 고딕"/>
              </a:rPr>
              <a:t>server  </a:t>
            </a: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npm ci + prisma generate + node --check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D4ED8"/>
                </a:solidFill>
                <a:latin typeface="맑은 고딕"/>
                <a:ea typeface="맑은 고딕"/>
              </a:rPr>
              <a:t>client  </a:t>
            </a: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npm ci + vite build + dist 아티팩트 업로드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D4ED8"/>
                </a:solidFill>
                <a:latin typeface="맑은 고딕"/>
                <a:ea typeface="맑은 고딕"/>
              </a:rPr>
              <a:t>docker  </a:t>
            </a: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docker compose build 전체 검증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D4ED8"/>
                </a:solidFill>
                <a:latin typeface="맑은 고딕"/>
                <a:ea typeface="맑은 고딕"/>
              </a:rPr>
              <a:t>CodeRabbit  </a:t>
            </a: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PR 자동 코드 리뷰 (선택)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840480"/>
            <a:ext cx="5394960" cy="237744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931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맑은 고딕"/>
                <a:ea typeface="맑은 고딕"/>
              </a:rPr>
              <a:t>🚀 자동 배포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343400"/>
            <a:ext cx="50292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•  main 머지 → Vercel/Render 가 GitHub Webhook 으로 감지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•  프런트: Vercel Edge 글로벌 배포 (≈ 30초)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•  백엔드: Render 가 Docker 이미지 빌드 + 마이그레이션 자동 적용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•  결과: 4개 PR 머지 모두 무중단으로 운영 반영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PlanIt — 2026-1 Web Programming Final Project · 202100580 이정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  <a:ea typeface="맑은 고딕"/>
              </a:rPr>
              <a:t>보안 · 안정성 · 사용자 경험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기술적 마무리 디테일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82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11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5577840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🔒 bcrypt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salt round 10 → 평문 비밀번호 영속 저장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143000"/>
            <a:ext cx="5577840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8016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🪪 JWT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HS256 · Bearer · 7일 만료 · localStorage + axios 인터셉터 자동 첨부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468880"/>
            <a:ext cx="5577840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060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🛡 zod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모든 입력 서버단 유효성 검증 (회원가입/CRUD 페이로드)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468880"/>
            <a:ext cx="5577840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6060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🚷 401 핸들링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0632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axios 응답 인터셉터 → localStorage 제거 + 로그인 화면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5577840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3192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🌐 CORS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8912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Render env CORS_ORIGIN 화이트리스트 → Vercel 도메인만 허용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794760"/>
            <a:ext cx="5577840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3192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📴 오프라인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IndexedDB 캐시 → 네트워크 실패 시 마지막 데이터 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20640"/>
            <a:ext cx="5577840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2578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🌓 다크 모드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7150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OS prefers-color-scheme 감지 + 사용자 선택 영구 저장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5120640"/>
            <a:ext cx="5577840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52578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🔔 마감 알림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57150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맑은 고딕"/>
                <a:ea typeface="맑은 고딕"/>
              </a:rPr>
              <a:t>1분 주기 폴링 · 1시간 이내 마감 · 중복 알림 방지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PlanIt — 2026-1 Web Programming Final Project · 202100580 이정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이 슬라이드에서 실제 사이트로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82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CBD5E1"/>
                </a:solidFill>
                <a:latin typeface="맑은 고딕"/>
                <a:ea typeface="맑은 고딕"/>
              </a:rPr>
              <a:t>12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5943600" cy="502920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맑은 고딕"/>
                <a:ea typeface="맑은 고딕"/>
              </a:rPr>
              <a:t>시연 URL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https://client-eight-ivory-60.vercel.app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맑은 고딕"/>
                <a:ea typeface="맑은 고딕"/>
              </a:rPr>
              <a:t>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github.com/Pionia5375/2026-1-web-programming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맑은 고딕"/>
                <a:ea typeface="맑은 고딕"/>
              </a:rPr>
              <a:t>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262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planit-api-i1th.onrender.com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486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BD5E1"/>
                </a:solidFill>
                <a:latin typeface="맑은 고딕"/>
                <a:ea typeface="맑은 고딕"/>
              </a:rPr>
              <a:t>(Render Free — 첫 호출 cold start 30~50초)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1143000"/>
            <a:ext cx="4937760" cy="502920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2801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맑은 고딕"/>
                <a:ea typeface="맑은 고딕"/>
              </a:rPr>
              <a:t>🎬 시연 순서 (2분 15초)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83080"/>
            <a:ext cx="457200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로그인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JWT 발급 → 대시보드 진입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할 일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추가 → 우선순위 색 뱃지 → 검색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일정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장소/시간 입력 → zod 유효성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캘린더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월/주/일/아젠다 + 한국어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다크 모드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토글 → 새로고침해도 유지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마감 알림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미리 등록한 할 일 → Notification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D4ED8"/>
                </a:solidFill>
                <a:latin typeface="맑은 고딕"/>
                <a:ea typeface="맑은 고딕"/>
              </a:rPr>
              <a:t>IndexedDB  </a:t>
            </a:r>
            <a:r>
              <a:rPr sz="1200" b="0" i="0">
                <a:solidFill>
                  <a:srgbClr val="0F172A"/>
                </a:solidFill>
                <a:latin typeface="맑은 고딕"/>
                <a:ea typeface="맑은 고딕"/>
              </a:rPr>
              <a:t>DevTools 로 planit-cache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PlanIt — 2026-1 Web Programming Final Project · 202100580 이정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맑은 고딕"/>
                <a:ea typeface="맑은 고딕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맑은 고딕"/>
                <a:ea typeface="맑은 고딕"/>
              </a:rPr>
              <a:t>감사합니다.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9E0B"/>
                </a:solidFill>
                <a:latin typeface="맑은 고딕"/>
                <a:ea typeface="맑은 고딕"/>
              </a:rPr>
              <a:t>PlanIt — 14주차 설계서를 그대로 구현한 풀스택 웹 서비스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10698480" cy="914400"/>
          </a:xfrm>
          <a:prstGeom prst="roundRect">
            <a:avLst/>
          </a:prstGeom>
          <a:solidFill>
            <a:srgbClr val="173CA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461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맑은 고딕"/>
                <a:ea typeface="맑은 고딕"/>
              </a:rPr>
              <a:t>🌐 서비스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324612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https://client-eight-ivory-60.vercel.app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10698480" cy="914400"/>
          </a:xfrm>
          <a:prstGeom prst="roundRect">
            <a:avLst/>
          </a:prstGeom>
          <a:solidFill>
            <a:srgbClr val="173CA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434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맑은 고딕"/>
                <a:ea typeface="맑은 고딕"/>
              </a:rPr>
              <a:t>📦 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34340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github.com/Pionia5375/2026-1-web-programming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맑은 고딕"/>
                <a:ea typeface="맑은 고딕"/>
              </a:rPr>
              <a:t>컴퓨터공학부 · 202100580 · 이정 · 2026-1 Web Programming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